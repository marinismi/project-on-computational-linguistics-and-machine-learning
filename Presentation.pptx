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4"/>
  </p:sldMasterIdLst>
  <p:notesMasterIdLst>
    <p:notesMasterId r:id="rId18"/>
  </p:notesMasterIdLst>
  <p:sldIdLst>
    <p:sldId id="271" r:id="rId5"/>
    <p:sldId id="256" r:id="rId6"/>
    <p:sldId id="29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294" r:id="rId16"/>
    <p:sldId id="28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3C3"/>
    <a:srgbClr val="0E2D69"/>
    <a:srgbClr val="FBBA00"/>
    <a:srgbClr val="029C63"/>
    <a:srgbClr val="96628C"/>
    <a:srgbClr val="11A0D7"/>
    <a:srgbClr val="E61F3D"/>
    <a:srgbClr val="CD5A5A"/>
    <a:srgbClr val="FFD74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94"/>
  </p:normalViewPr>
  <p:slideViewPr>
    <p:cSldViewPr snapToGrid="0" snapToObjects="1">
      <p:cViewPr varScale="1">
        <p:scale>
          <a:sx n="78" d="100"/>
          <a:sy n="78" d="100"/>
        </p:scale>
        <p:origin x="1032" y="7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337E0-84C4-4AEB-B544-6FA980F80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E3137B-16B5-4F0E-B3A4-F14AB154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BC552B-CB79-497A-9DC1-11CB324A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88CD08-82D8-486E-960A-421EF404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E968EF-A95A-413B-AE0B-F78A0054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1610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44EE0-02F6-4D16-AE86-929A296E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C15EE8-6B51-40E3-9E40-E4D05CAB0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FEFC03-64B4-4D54-9591-B4A88A2B1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4D16B9-1DB8-42F6-862A-163993BC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973F27-476C-4E59-941D-CF2A43F4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0910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BE617-E5C5-45DD-A834-950BD5A6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6F1ACA-126F-4E13-A579-296DE72DD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85FA86-4794-4A2F-88A5-BAC20EEF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433B7D-0335-4D77-B83F-ECC1A25A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DDC5DB-07C6-4454-8089-57C265AD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3699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DB607-8547-4E6C-A4BA-0DF6B307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27F593-2CA8-44D8-A312-D2F0192E5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4A982F-5067-4447-AEF6-AF02DF127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0C71CD-5FAB-45D7-A477-B3241B3B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879B5A-0DC6-4544-9F88-A16CFB01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E0D723-C7C9-4219-A627-F855F06E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07052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8E31C4-8D13-47BE-B2AD-E7B27597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C04C2-CBCC-44AC-98B5-A4788D771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AAD33B-EFFA-4304-9B19-4D0F3A8BC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2E9656B-477F-496C-B3DD-493107D54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F0FCC0D-B062-4D88-822F-0F3739897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28908A-6552-4E63-874F-442F6888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8E4348-0A7C-49A1-A4DB-ACC5645CE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9F2B27-556F-4629-BDE5-85AEB02D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1243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DBBBD-71B9-4BF9-8FFD-EC74554C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6B5F3D8-1581-4A96-8824-92680E183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730F75-05C7-4081-8A1F-42131C47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7C65F7-8023-40D7-8D71-DF6641A1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9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9A7D3D-2E75-4897-A3D2-72D1460A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B3F-4D32-4023-AD1C-292C64A505C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3DE2C6-07E0-4801-8595-AE339016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E59B2B-2C59-43DA-8E92-F876372B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88427-E8FF-4989-BEE0-8DD32CA21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12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62593-5FFC-4D89-98CA-920E057E3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B4129B-80D3-44E3-9D3C-367A4AEA0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F8EB8E-1721-4EDB-8AFF-095F94145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1ED9F7-5446-4DA3-A039-46393C4D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20F02D-5B40-4A97-9EF8-8FFEF4AD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C1CE5C-1C37-400C-A7B8-203FF7C5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0401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D3FE0-1ED8-434B-AEA3-3FFEDA5A2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6371649-E08A-4B66-93DF-0295A9D8E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03163C-4429-4523-88F3-C354B1CAF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27F552-9C5D-4E07-9849-E374CC53D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3BB45C-8F97-4F70-A512-CFA96D4D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8ED316-43BC-4E42-8499-3B7AB956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60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52131-60A9-4CE4-BFA5-672635B7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D52B8F-9E06-4EA6-9238-32FCF6F29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8B4A34-5D23-4B8C-8DF3-1C9A29D06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603454-26B8-4BCC-83BE-7D4C8C35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34C84-86C2-47BB-9C95-FE35B967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1776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1360E00-FADA-4A65-9F93-8F073BD98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AB3BF3-2101-4C6F-8FF0-A129E4A11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1F1B12-ED5E-4105-B971-070EA141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0776BA-D6C3-4D17-9F23-ABCDEFC8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02A106-5243-4E59-8CDA-B49E8868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0186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705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17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6EF7B-AE3E-4D4C-AABC-47ECDDF8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DE7A2C-09BA-4284-BCD0-599A6B15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C398A6-8EDC-4585-95F8-04F234B08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x-none" smtClean="0"/>
              <a:t>21.02.2026</a:t>
            </a:fld>
            <a:endParaRPr lang="x-non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60AB52-7B61-4D39-B6F9-8B79E7D87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DCB92C-6F00-46B4-8FD8-AE4E5DAFD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9367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65" r:id="rId13"/>
    <p:sldLayoutId id="214748365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39838"/>
            <a:ext cx="7634059" cy="197832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Применение машинного обучения для классификации </a:t>
            </a:r>
            <a:r>
              <a:rPr lang="ru-RU" dirty="0" err="1"/>
              <a:t>аугментированных</a:t>
            </a:r>
            <a:r>
              <a:rPr lang="ru-RU" dirty="0"/>
              <a:t> текстов по уровням CEFR(A1-C1)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ru-RU" sz="1400" dirty="0">
                <a:solidFill>
                  <a:srgbClr val="0E2D69"/>
                </a:solidFill>
              </a:rPr>
              <a:t>ДПО Компьютерная лингвистика </a:t>
            </a:r>
          </a:p>
          <a:p>
            <a:r>
              <a:rPr lang="ru-RU" sz="1400" dirty="0">
                <a:solidFill>
                  <a:srgbClr val="0E2D69"/>
                </a:solidFill>
              </a:rPr>
              <a:t>ВШЭ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ru-RU" sz="1400" dirty="0"/>
              <a:t>Смирнова</a:t>
            </a:r>
            <a:endParaRPr lang="en-US" sz="1400" dirty="0"/>
          </a:p>
          <a:p>
            <a:r>
              <a:rPr lang="ru-RU" sz="1400" dirty="0"/>
              <a:t>Марина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rPr lang="ru-RU" sz="1400" dirty="0"/>
              <a:t>Москва</a:t>
            </a:r>
          </a:p>
          <a:p>
            <a:r>
              <a:rPr lang="ru-RU" sz="1400" dirty="0"/>
              <a:t>2026</a:t>
            </a:r>
          </a:p>
        </p:txBody>
      </p:sp>
      <p:sp>
        <p:nvSpPr>
          <p:cNvPr id="7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6687616" y="471742"/>
            <a:ext cx="4213475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Задачи проекта</a:t>
            </a: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 flipH="1">
            <a:off x="6687616" y="934451"/>
            <a:ext cx="4233589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6687616" y="1395374"/>
            <a:ext cx="336796" cy="312020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22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6687616" y="1918381"/>
            <a:ext cx="336796" cy="312020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6687616" y="2474810"/>
            <a:ext cx="336796" cy="312020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24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6687616" y="3272990"/>
            <a:ext cx="336796" cy="312020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13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068695" y="1386230"/>
            <a:ext cx="336796" cy="312020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buFont typeface="Arial" panose="020B0604020202020204" pitchFamily="34" charset="0"/>
              <a:buNone/>
            </a:pPr>
            <a:endParaRPr lang="ru-RU" sz="1400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4213475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Цель проекта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4233589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896A0D-377E-432F-8ED6-434003002B35}"/>
              </a:ext>
            </a:extLst>
          </p:cNvPr>
          <p:cNvSpPr txBox="1"/>
          <p:nvPr/>
        </p:nvSpPr>
        <p:spPr>
          <a:xfrm>
            <a:off x="1068695" y="1076239"/>
            <a:ext cx="4178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solidFill>
                <a:srgbClr val="0E2D69"/>
              </a:solidFill>
            </a:endParaRPr>
          </a:p>
          <a:p>
            <a:pPr algn="r"/>
            <a:r>
              <a:rPr lang="ru-RU" dirty="0">
                <a:solidFill>
                  <a:srgbClr val="0E2D69"/>
                </a:solidFill>
              </a:rPr>
              <a:t>       оценить работу модели машинного         обучения при использовании </a:t>
            </a:r>
            <a:r>
              <a:rPr lang="ru-RU" dirty="0" err="1">
                <a:solidFill>
                  <a:srgbClr val="0E2D69"/>
                </a:solidFill>
              </a:rPr>
              <a:t>аугментированных</a:t>
            </a:r>
            <a:r>
              <a:rPr lang="ru-RU" dirty="0">
                <a:solidFill>
                  <a:srgbClr val="0E2D69"/>
                </a:solidFill>
              </a:rPr>
              <a:t> текстов в качестве исходных данных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96A0D-377E-432F-8ED6-434003002B35}"/>
              </a:ext>
            </a:extLst>
          </p:cNvPr>
          <p:cNvSpPr txBox="1"/>
          <p:nvPr/>
        </p:nvSpPr>
        <p:spPr>
          <a:xfrm>
            <a:off x="6705285" y="1076239"/>
            <a:ext cx="41781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solidFill>
                <a:srgbClr val="0E2D69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Увеличение объема корпуса текстов</a:t>
            </a:r>
          </a:p>
          <a:p>
            <a:pPr algn="just"/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algn="just"/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2.   Кодирование текстовой информации</a:t>
            </a:r>
          </a:p>
          <a:p>
            <a:pPr algn="just"/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3.   Обучение модели машинного обучения </a:t>
            </a:r>
          </a:p>
          <a:p>
            <a:pPr algn="just"/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algn="just"/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4.     Сравнение результатов</a:t>
            </a:r>
          </a:p>
          <a:p>
            <a:pPr marL="342900" indent="-342900" algn="just">
              <a:buFont typeface="+mj-lt"/>
              <a:buAutoNum type="arabicPeriod"/>
            </a:pPr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ДПО Компьютерная лингвистика ВШЭ 202</a:t>
            </a:r>
            <a:r>
              <a:rPr lang="en-US" sz="1400" dirty="0"/>
              <a:t>6</a:t>
            </a:r>
            <a:r>
              <a:rPr lang="ru-RU" sz="1400" dirty="0"/>
              <a:t> Смирнова Марина</a:t>
            </a:r>
          </a:p>
        </p:txBody>
      </p:sp>
    </p:spTree>
    <p:extLst>
      <p:ext uri="{BB962C8B-B14F-4D97-AF65-F5344CB8AC3E}">
        <p14:creationId xmlns:p14="http://schemas.microsoft.com/office/powerpoint/2010/main" val="263801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buFont typeface="Arial" panose="020B0604020202020204" pitchFamily="34" charset="0"/>
              <a:buNone/>
            </a:pPr>
            <a:endParaRPr lang="ru-RU" sz="1400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Материал исследования</a:t>
            </a:r>
          </a:p>
          <a:p>
            <a:endParaRPr lang="ru-RU" sz="2400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HSE Sans" panose="02000000000000000000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ДПО Компьютерная лингвистика ВШЭ 202</a:t>
            </a:r>
            <a:r>
              <a:rPr lang="en-US" sz="1400" dirty="0"/>
              <a:t>6</a:t>
            </a:r>
            <a:r>
              <a:rPr lang="ru-RU" sz="1400" dirty="0"/>
              <a:t> Смирнова Марина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3C444EB-FD2A-4723-AD55-AB1A26E87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334" y="1281171"/>
            <a:ext cx="7189332" cy="502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06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Этапы проведения исследования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896A0D-377E-432F-8ED6-434003002B35}"/>
              </a:ext>
            </a:extLst>
          </p:cNvPr>
          <p:cNvSpPr txBox="1"/>
          <p:nvPr/>
        </p:nvSpPr>
        <p:spPr>
          <a:xfrm>
            <a:off x="2464875" y="1228117"/>
            <a:ext cx="5027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 текстов 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FBBA00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96A0D-377E-432F-8ED6-434003002B35}"/>
              </a:ext>
            </a:extLst>
          </p:cNvPr>
          <p:cNvSpPr txBox="1"/>
          <p:nvPr/>
        </p:nvSpPr>
        <p:spPr>
          <a:xfrm>
            <a:off x="1104707" y="3199834"/>
            <a:ext cx="99860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Пополнение корпуса: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tabLst/>
              <a:defRPr/>
            </a:pPr>
            <a:endParaRPr lang="ru-RU" dirty="0">
              <a:solidFill>
                <a:srgbClr val="0E2D69"/>
              </a:solidFill>
            </a:endParaRP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E2D69"/>
                </a:solidFill>
              </a:rPr>
              <a:t>Ручное добавление текстов </a:t>
            </a: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E2D69"/>
                </a:solidFill>
              </a:rPr>
              <a:t>Автоматическая генерация текстов с помощью </a:t>
            </a:r>
            <a:r>
              <a:rPr lang="ru-RU" b="1" dirty="0">
                <a:solidFill>
                  <a:srgbClr val="FBBA00"/>
                </a:solidFill>
                <a:latin typeface="Calibri" panose="020F0502020204030204"/>
              </a:rPr>
              <a:t>API </a:t>
            </a:r>
            <a:r>
              <a:rPr lang="ru-RU" b="1" dirty="0" err="1">
                <a:solidFill>
                  <a:srgbClr val="FBBA00"/>
                </a:solidFill>
                <a:latin typeface="Calibri" panose="020F0502020204030204"/>
              </a:rPr>
              <a:t>Gigachat</a:t>
            </a:r>
            <a:endParaRPr lang="ru-RU" b="1" dirty="0">
              <a:solidFill>
                <a:srgbClr val="FBBA00"/>
              </a:solidFill>
              <a:latin typeface="Calibri" panose="020F0502020204030204"/>
            </a:endParaRP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E2D69"/>
                </a:solidFill>
              </a:rPr>
              <a:t>Аугментация исходных текстов с помощью модели </a:t>
            </a:r>
            <a:r>
              <a:rPr lang="en-US" b="1" dirty="0">
                <a:solidFill>
                  <a:srgbClr val="FBBA00"/>
                </a:solidFill>
                <a:latin typeface="Calibri" panose="020F0502020204030204"/>
              </a:rPr>
              <a:t>Helsinki-NLP</a:t>
            </a:r>
            <a:r>
              <a:rPr lang="en-US" dirty="0">
                <a:solidFill>
                  <a:srgbClr val="0E2D69"/>
                </a:solidFill>
              </a:rPr>
              <a:t> </a:t>
            </a:r>
            <a:r>
              <a:rPr lang="ru-RU" dirty="0">
                <a:solidFill>
                  <a:srgbClr val="0E2D69"/>
                </a:solidFill>
              </a:rPr>
              <a:t>методом </a:t>
            </a:r>
            <a:r>
              <a:rPr lang="en-US" b="1" dirty="0">
                <a:solidFill>
                  <a:srgbClr val="FBBA00"/>
                </a:solidFill>
                <a:latin typeface="Calibri" panose="020F0502020204030204"/>
              </a:rPr>
              <a:t>back translation </a:t>
            </a:r>
            <a:r>
              <a:rPr lang="en-US" dirty="0">
                <a:solidFill>
                  <a:srgbClr val="0E2D69"/>
                </a:solidFill>
              </a:rPr>
              <a:t>(</a:t>
            </a:r>
            <a:r>
              <a:rPr lang="ru-RU" dirty="0">
                <a:solidFill>
                  <a:srgbClr val="0E2D69"/>
                </a:solidFill>
              </a:rPr>
              <a:t>английский-немецкий)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_____________________________________________________________________________________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SE Sans" panose="02000000000000000000"/>
                <a:ea typeface="+mn-ea"/>
                <a:cs typeface="+mn-cs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Прямая соединительная линия 39"/>
          <p:cNvCxnSpPr/>
          <p:nvPr/>
        </p:nvCxnSpPr>
        <p:spPr>
          <a:xfrm flipH="1">
            <a:off x="1068695" y="2060725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ДПО Компьютерная лингвистика ВШЭ 202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Смирнова Марина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F304-C4B8-4958-9B89-BF5BD031F3AA}"/>
              </a:ext>
            </a:extLst>
          </p:cNvPr>
          <p:cNvSpPr txBox="1"/>
          <p:nvPr/>
        </p:nvSpPr>
        <p:spPr>
          <a:xfrm flipH="1">
            <a:off x="1068695" y="5725660"/>
            <a:ext cx="723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just">
              <a:defRPr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D4EADB43-AD4C-4AF3-8504-36DEB70B3C1F}"/>
              </a:ext>
            </a:extLst>
          </p:cNvPr>
          <p:cNvSpPr/>
          <p:nvPr/>
        </p:nvSpPr>
        <p:spPr>
          <a:xfrm>
            <a:off x="4552335" y="1322288"/>
            <a:ext cx="3254477" cy="190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719B0-916B-4BB4-92DE-FB07DDF593E6}"/>
              </a:ext>
            </a:extLst>
          </p:cNvPr>
          <p:cNvSpPr txBox="1"/>
          <p:nvPr/>
        </p:nvSpPr>
        <p:spPr>
          <a:xfrm>
            <a:off x="8451895" y="1220629"/>
            <a:ext cx="156658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0E2D69"/>
                </a:solidFill>
                <a:latin typeface="Calibri" panose="020F0502020204030204"/>
              </a:rPr>
              <a:t>1400 текстов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466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Этапы проведения исследования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896A0D-377E-432F-8ED6-434003002B35}"/>
              </a:ext>
            </a:extLst>
          </p:cNvPr>
          <p:cNvSpPr txBox="1"/>
          <p:nvPr/>
        </p:nvSpPr>
        <p:spPr>
          <a:xfrm>
            <a:off x="2464875" y="1228117"/>
            <a:ext cx="5027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 текстов 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FBBA00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SE Sans" panose="02000000000000000000"/>
                <a:ea typeface="+mn-ea"/>
                <a:cs typeface="+mn-cs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Прямая соединительная линия 39"/>
          <p:cNvCxnSpPr/>
          <p:nvPr/>
        </p:nvCxnSpPr>
        <p:spPr>
          <a:xfrm flipH="1">
            <a:off x="1068695" y="2060725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ДПО Компьютерная лингвистика ВШЭ 202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Смирнова Марина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F304-C4B8-4958-9B89-BF5BD031F3AA}"/>
              </a:ext>
            </a:extLst>
          </p:cNvPr>
          <p:cNvSpPr txBox="1"/>
          <p:nvPr/>
        </p:nvSpPr>
        <p:spPr>
          <a:xfrm flipH="1">
            <a:off x="1068695" y="5725660"/>
            <a:ext cx="723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just">
              <a:defRPr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D4EADB43-AD4C-4AF3-8504-36DEB70B3C1F}"/>
              </a:ext>
            </a:extLst>
          </p:cNvPr>
          <p:cNvSpPr/>
          <p:nvPr/>
        </p:nvSpPr>
        <p:spPr>
          <a:xfrm>
            <a:off x="4552335" y="1322288"/>
            <a:ext cx="3254477" cy="190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719B0-916B-4BB4-92DE-FB07DDF593E6}"/>
              </a:ext>
            </a:extLst>
          </p:cNvPr>
          <p:cNvSpPr txBox="1"/>
          <p:nvPr/>
        </p:nvSpPr>
        <p:spPr>
          <a:xfrm>
            <a:off x="8451895" y="1220629"/>
            <a:ext cx="156658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0E2D69"/>
                </a:solidFill>
                <a:latin typeface="Calibri" panose="020F0502020204030204"/>
              </a:rPr>
              <a:t>1400 текстов</a:t>
            </a:r>
          </a:p>
          <a:p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0496B3D-467F-4BF2-B17E-51259953E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982" y="2291659"/>
            <a:ext cx="8893311" cy="41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8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Этапы проведения исследования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896A0D-377E-432F-8ED6-434003002B35}"/>
              </a:ext>
            </a:extLst>
          </p:cNvPr>
          <p:cNvSpPr txBox="1"/>
          <p:nvPr/>
        </p:nvSpPr>
        <p:spPr>
          <a:xfrm>
            <a:off x="2464875" y="1228117"/>
            <a:ext cx="5027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 текстов 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FBBA00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SE Sans" panose="02000000000000000000"/>
                <a:ea typeface="+mn-ea"/>
                <a:cs typeface="+mn-cs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Прямая соединительная линия 39"/>
          <p:cNvCxnSpPr/>
          <p:nvPr/>
        </p:nvCxnSpPr>
        <p:spPr>
          <a:xfrm flipH="1">
            <a:off x="1068695" y="2060725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ДПО Компьютерная лингвистика ВШЭ 202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Смирнова Марина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F304-C4B8-4958-9B89-BF5BD031F3AA}"/>
              </a:ext>
            </a:extLst>
          </p:cNvPr>
          <p:cNvSpPr txBox="1"/>
          <p:nvPr/>
        </p:nvSpPr>
        <p:spPr>
          <a:xfrm flipH="1">
            <a:off x="1068695" y="5725660"/>
            <a:ext cx="723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just">
              <a:defRPr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D4EADB43-AD4C-4AF3-8504-36DEB70B3C1F}"/>
              </a:ext>
            </a:extLst>
          </p:cNvPr>
          <p:cNvSpPr/>
          <p:nvPr/>
        </p:nvSpPr>
        <p:spPr>
          <a:xfrm>
            <a:off x="4552335" y="1322288"/>
            <a:ext cx="3254477" cy="190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719B0-916B-4BB4-92DE-FB07DDF593E6}"/>
              </a:ext>
            </a:extLst>
          </p:cNvPr>
          <p:cNvSpPr txBox="1"/>
          <p:nvPr/>
        </p:nvSpPr>
        <p:spPr>
          <a:xfrm>
            <a:off x="8451895" y="1220629"/>
            <a:ext cx="156658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0E2D69"/>
                </a:solidFill>
                <a:latin typeface="Calibri" panose="020F0502020204030204"/>
              </a:rPr>
              <a:t>1400 текстов</a:t>
            </a:r>
          </a:p>
          <a:p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D77C66B-3C71-4AF4-BC91-398CB71FF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518" y="2336090"/>
            <a:ext cx="7491109" cy="226333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3185591-AFA5-414E-AB86-5733781CC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518" y="4276757"/>
            <a:ext cx="7483488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6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Этапы проведения исследования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SE Sans" panose="02000000000000000000"/>
                <a:ea typeface="+mn-ea"/>
                <a:cs typeface="+mn-cs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Прямая соединительная линия 39"/>
          <p:cNvCxnSpPr/>
          <p:nvPr/>
        </p:nvCxnSpPr>
        <p:spPr>
          <a:xfrm flipH="1">
            <a:off x="1104708" y="1859161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ДПО Компьютерная лингвистика ВШЭ 202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Смирнова Марина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F304-C4B8-4958-9B89-BF5BD031F3AA}"/>
              </a:ext>
            </a:extLst>
          </p:cNvPr>
          <p:cNvSpPr txBox="1"/>
          <p:nvPr/>
        </p:nvSpPr>
        <p:spPr>
          <a:xfrm flipH="1">
            <a:off x="1068695" y="5725660"/>
            <a:ext cx="723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just">
              <a:defRPr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BB664-DB90-448F-8863-1FCD0F688B53}"/>
              </a:ext>
            </a:extLst>
          </p:cNvPr>
          <p:cNvSpPr txBox="1"/>
          <p:nvPr/>
        </p:nvSpPr>
        <p:spPr>
          <a:xfrm>
            <a:off x="3608439" y="1296238"/>
            <a:ext cx="6459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Представление текстов в виде векторов </a:t>
            </a:r>
            <a:r>
              <a:rPr lang="en-US" dirty="0">
                <a:solidFill>
                  <a:srgbClr val="0E2D69"/>
                </a:solidFill>
                <a:latin typeface="HSE Sans" panose="02000000000000000000" pitchFamily="2" charset="0"/>
              </a:rPr>
              <a:t>TF_IDF</a:t>
            </a:r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7370242-8FE5-4BBC-A823-132EB48E3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140" y="2233307"/>
            <a:ext cx="7230151" cy="429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7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Этапы проведения исследования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SE Sans" panose="02000000000000000000"/>
                <a:ea typeface="+mn-ea"/>
                <a:cs typeface="+mn-cs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Прямая соединительная линия 39"/>
          <p:cNvCxnSpPr/>
          <p:nvPr/>
        </p:nvCxnSpPr>
        <p:spPr>
          <a:xfrm flipH="1">
            <a:off x="1068695" y="1859161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ДПО Компьютерная лингвистика ВШЭ 202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Смирнова Марина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F304-C4B8-4958-9B89-BF5BD031F3AA}"/>
              </a:ext>
            </a:extLst>
          </p:cNvPr>
          <p:cNvSpPr txBox="1"/>
          <p:nvPr/>
        </p:nvSpPr>
        <p:spPr>
          <a:xfrm flipH="1">
            <a:off x="1068695" y="5725660"/>
            <a:ext cx="723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just">
              <a:defRPr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BB664-DB90-448F-8863-1FCD0F688B53}"/>
              </a:ext>
            </a:extLst>
          </p:cNvPr>
          <p:cNvSpPr txBox="1"/>
          <p:nvPr/>
        </p:nvSpPr>
        <p:spPr>
          <a:xfrm>
            <a:off x="3352800" y="1278958"/>
            <a:ext cx="6459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Обучение модели </a:t>
            </a:r>
            <a:r>
              <a:rPr lang="ru-RU" dirty="0" err="1">
                <a:solidFill>
                  <a:srgbClr val="0E2D69"/>
                </a:solidFill>
                <a:latin typeface="HSE Sans" panose="02000000000000000000" pitchFamily="2" charset="0"/>
              </a:rPr>
              <a:t>CatBoost</a:t>
            </a: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 на TF-IDF векторах текстов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7E96E6E-105F-4F02-B391-5162BC33C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784" y="2611172"/>
            <a:ext cx="8639935" cy="30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53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Этапы проведения исследования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SE Sans" panose="02000000000000000000"/>
                <a:ea typeface="+mn-ea"/>
                <a:cs typeface="+mn-cs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Прямая соединительная линия 39"/>
          <p:cNvCxnSpPr/>
          <p:nvPr/>
        </p:nvCxnSpPr>
        <p:spPr>
          <a:xfrm flipH="1">
            <a:off x="1068695" y="1859161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ДПО Компьютерная лингвистика ВШЭ 202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Смирнова Марина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F304-C4B8-4958-9B89-BF5BD031F3AA}"/>
              </a:ext>
            </a:extLst>
          </p:cNvPr>
          <p:cNvSpPr txBox="1"/>
          <p:nvPr/>
        </p:nvSpPr>
        <p:spPr>
          <a:xfrm flipH="1">
            <a:off x="1068695" y="5725660"/>
            <a:ext cx="723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just">
              <a:defRPr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BB664-DB90-448F-8863-1FCD0F688B53}"/>
              </a:ext>
            </a:extLst>
          </p:cNvPr>
          <p:cNvSpPr txBox="1"/>
          <p:nvPr/>
        </p:nvSpPr>
        <p:spPr>
          <a:xfrm>
            <a:off x="2942470" y="1300498"/>
            <a:ext cx="6459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Результат работы модели </a:t>
            </a:r>
            <a:r>
              <a:rPr lang="ru-RU" dirty="0" err="1">
                <a:solidFill>
                  <a:srgbClr val="0E2D69"/>
                </a:solidFill>
                <a:latin typeface="HSE Sans" panose="02000000000000000000" pitchFamily="2" charset="0"/>
              </a:rPr>
              <a:t>CatBoost</a:t>
            </a: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 на TF-IDF векторах текстов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673AB0C-B8AC-4775-AD16-B3FDCF40D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850" y="2048493"/>
            <a:ext cx="5652300" cy="45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1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Этапы проведения исследования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SE Sans" panose="02000000000000000000"/>
                <a:ea typeface="+mn-ea"/>
                <a:cs typeface="+mn-cs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Прямая соединительная линия 39"/>
          <p:cNvCxnSpPr/>
          <p:nvPr/>
        </p:nvCxnSpPr>
        <p:spPr>
          <a:xfrm flipH="1">
            <a:off x="1068695" y="2060725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ДПО Компьютерная лингвистика ВШЭ 202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Смирнова Марина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F304-C4B8-4958-9B89-BF5BD031F3AA}"/>
              </a:ext>
            </a:extLst>
          </p:cNvPr>
          <p:cNvSpPr txBox="1"/>
          <p:nvPr/>
        </p:nvSpPr>
        <p:spPr>
          <a:xfrm flipH="1">
            <a:off x="1068695" y="5725660"/>
            <a:ext cx="723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just">
              <a:defRPr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BB664-DB90-448F-8863-1FCD0F688B53}"/>
              </a:ext>
            </a:extLst>
          </p:cNvPr>
          <p:cNvSpPr txBox="1"/>
          <p:nvPr/>
        </p:nvSpPr>
        <p:spPr>
          <a:xfrm>
            <a:off x="2745825" y="1043592"/>
            <a:ext cx="6459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Преобразование текстов в </a:t>
            </a:r>
            <a:r>
              <a:rPr lang="en-US" dirty="0">
                <a:solidFill>
                  <a:srgbClr val="0E2D69"/>
                </a:solidFill>
                <a:latin typeface="HSE Sans" panose="02000000000000000000" pitchFamily="2" charset="0"/>
              </a:rPr>
              <a:t>BERT-</a:t>
            </a:r>
            <a:r>
              <a:rPr lang="ru-RU" dirty="0" err="1">
                <a:solidFill>
                  <a:srgbClr val="0E2D69"/>
                </a:solidFill>
                <a:latin typeface="HSE Sans" panose="02000000000000000000" pitchFamily="2" charset="0"/>
              </a:rPr>
              <a:t>эмбеддинги</a:t>
            </a:r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lvl="0" algn="ctr">
              <a:defRPr/>
            </a:pPr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lvl="0" algn="ctr">
              <a:defRPr/>
            </a:pPr>
            <a:r>
              <a:rPr lang="en-US" dirty="0">
                <a:solidFill>
                  <a:srgbClr val="0E2D69"/>
                </a:solidFill>
                <a:latin typeface="HSE Sans" panose="02000000000000000000" pitchFamily="2" charset="0"/>
              </a:rPr>
              <a:t>Bidirectional Encoder Representations from Transformers</a:t>
            </a:r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3CA2A64-3C7E-474E-88A3-451D452EA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430" y="2367096"/>
            <a:ext cx="8994430" cy="382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50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SE Sans" panose="0200000000000000000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latin typeface="HS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E2D69"/>
                </a:solidFill>
                <a:effectLst/>
                <a:uLnTx/>
                <a:uFillTx/>
                <a:latin typeface="HSE Sans" panose="02000000000000000000" pitchFamily="2" charset="0"/>
                <a:ea typeface="+mn-ea"/>
                <a:cs typeface="+mn-cs"/>
              </a:rPr>
              <a:t>Этапы проведения исследования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SE Sans" panose="02000000000000000000"/>
                <a:ea typeface="+mn-ea"/>
                <a:cs typeface="+mn-cs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Прямая соединительная линия 39"/>
          <p:cNvCxnSpPr/>
          <p:nvPr/>
        </p:nvCxnSpPr>
        <p:spPr>
          <a:xfrm flipH="1">
            <a:off x="1068695" y="1859161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ДПО Компьютерная лингвистика ВШЭ 202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Смирнова Марина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F304-C4B8-4958-9B89-BF5BD031F3AA}"/>
              </a:ext>
            </a:extLst>
          </p:cNvPr>
          <p:cNvSpPr txBox="1"/>
          <p:nvPr/>
        </p:nvSpPr>
        <p:spPr>
          <a:xfrm flipH="1">
            <a:off x="1068695" y="5725660"/>
            <a:ext cx="723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just">
              <a:defRPr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E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BB664-DB90-448F-8863-1FCD0F688B53}"/>
              </a:ext>
            </a:extLst>
          </p:cNvPr>
          <p:cNvSpPr txBox="1"/>
          <p:nvPr/>
        </p:nvSpPr>
        <p:spPr>
          <a:xfrm>
            <a:off x="2830089" y="1321535"/>
            <a:ext cx="6459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Результат работы модели </a:t>
            </a:r>
            <a:r>
              <a:rPr lang="en-US" dirty="0" err="1">
                <a:solidFill>
                  <a:srgbClr val="0E2D69"/>
                </a:solidFill>
                <a:latin typeface="HSE Sans" panose="02000000000000000000" pitchFamily="2" charset="0"/>
              </a:rPr>
              <a:t>CatBoost</a:t>
            </a:r>
            <a:r>
              <a:rPr lang="ru-RU" dirty="0">
                <a:solidFill>
                  <a:srgbClr val="0E2D69"/>
                </a:solidFill>
                <a:latin typeface="HSE Sans" panose="02000000000000000000" pitchFamily="2" charset="0"/>
              </a:rPr>
              <a:t> на </a:t>
            </a:r>
            <a:r>
              <a:rPr lang="en-US" dirty="0">
                <a:solidFill>
                  <a:srgbClr val="0E2D69"/>
                </a:solidFill>
                <a:latin typeface="HSE Sans" panose="02000000000000000000" pitchFamily="2" charset="0"/>
              </a:rPr>
              <a:t>BERT-</a:t>
            </a:r>
            <a:r>
              <a:rPr lang="ru-RU" dirty="0" err="1">
                <a:solidFill>
                  <a:srgbClr val="0E2D69"/>
                </a:solidFill>
                <a:latin typeface="HSE Sans" panose="02000000000000000000" pitchFamily="2" charset="0"/>
              </a:rPr>
              <a:t>эмбеддингах</a:t>
            </a:r>
            <a:endParaRPr lang="ru-RU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A2146D-506E-4836-8568-77E747F53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310" y="2090785"/>
            <a:ext cx="5620548" cy="452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1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122853" y="2273801"/>
            <a:ext cx="336796" cy="312020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22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122853" y="2780335"/>
            <a:ext cx="336796" cy="312020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129350" y="3871907"/>
            <a:ext cx="336796" cy="312020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12380440" y="2058356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12380441" y="376842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7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12380441" y="547850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HSE Sans" panose="020000000000000000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91251" y="1551384"/>
            <a:ext cx="1079142" cy="3077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buFont typeface="Arial" panose="020B0604020202020204" pitchFamily="34" charset="0"/>
              <a:buNone/>
            </a:pPr>
            <a:endParaRPr lang="ru-RU" sz="1400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 txBox="1">
            <a:spLocks/>
          </p:cNvSpPr>
          <p:nvPr/>
        </p:nvSpPr>
        <p:spPr>
          <a:xfrm>
            <a:off x="1068695" y="458907"/>
            <a:ext cx="9982583" cy="4351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Результаты исследования:</a:t>
            </a:r>
            <a:endParaRPr lang="ru-RU" sz="2400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068695" y="921616"/>
            <a:ext cx="9982583" cy="0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896A0D-377E-432F-8ED6-434003002B35}"/>
              </a:ext>
            </a:extLst>
          </p:cNvPr>
          <p:cNvSpPr txBox="1"/>
          <p:nvPr/>
        </p:nvSpPr>
        <p:spPr>
          <a:xfrm>
            <a:off x="1068695" y="1076239"/>
            <a:ext cx="998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FBBA00"/>
                </a:solidFill>
                <a:latin typeface="HSE Sans" panose="02000000000000000000" pitchFamily="2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96A0D-377E-432F-8ED6-434003002B35}"/>
              </a:ext>
            </a:extLst>
          </p:cNvPr>
          <p:cNvSpPr txBox="1"/>
          <p:nvPr/>
        </p:nvSpPr>
        <p:spPr>
          <a:xfrm>
            <a:off x="1466146" y="1921769"/>
            <a:ext cx="99825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algn="just"/>
            <a:r>
              <a:rPr lang="ru-RU" dirty="0"/>
              <a:t>TF-IDF + </a:t>
            </a:r>
            <a:r>
              <a:rPr lang="ru-RU" dirty="0" err="1"/>
              <a:t>CatBoost</a:t>
            </a:r>
            <a:r>
              <a:rPr lang="ru-RU" dirty="0"/>
              <a:t> </a:t>
            </a:r>
            <a:r>
              <a:rPr lang="en-US" dirty="0"/>
              <a:t> = </a:t>
            </a:r>
            <a:r>
              <a:rPr lang="ru-RU" dirty="0"/>
              <a:t> 96.8% </a:t>
            </a:r>
            <a:r>
              <a:rPr lang="en-US" dirty="0"/>
              <a:t>accuracy</a:t>
            </a:r>
          </a:p>
          <a:p>
            <a:pPr algn="just"/>
            <a:endParaRPr lang="en-US" dirty="0"/>
          </a:p>
          <a:p>
            <a:pPr algn="just"/>
            <a:r>
              <a:rPr lang="ru-RU" dirty="0"/>
              <a:t>BERT + </a:t>
            </a:r>
            <a:r>
              <a:rPr lang="ru-RU" dirty="0" err="1"/>
              <a:t>CatBoost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86% </a:t>
            </a:r>
            <a:r>
              <a:rPr lang="en-US" dirty="0"/>
              <a:t>accuracy</a:t>
            </a:r>
            <a:endParaRPr lang="ru-RU" dirty="0"/>
          </a:p>
          <a:p>
            <a:pPr algn="just"/>
            <a:endParaRPr lang="ru-RU" dirty="0"/>
          </a:p>
          <a:p>
            <a:pPr algn="just"/>
            <a:r>
              <a:rPr lang="ru-RU" b="1" dirty="0">
                <a:solidFill>
                  <a:srgbClr val="0E2D69"/>
                </a:solidFill>
                <a:latin typeface="HSE Sans" panose="02000000000000000000" pitchFamily="2" charset="0"/>
              </a:rPr>
              <a:t>Вывод:</a:t>
            </a:r>
          </a:p>
          <a:p>
            <a:pPr algn="just"/>
            <a:endParaRPr lang="ru-RU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algn="just"/>
            <a:r>
              <a:rPr lang="ru-RU" dirty="0"/>
              <a:t>TF-IDF хорошо находит поверхностные закономерности: длину текстов, частотность определенных слов, структуру предложений.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BERT</a:t>
            </a:r>
            <a:r>
              <a:rPr lang="ru-RU" dirty="0"/>
              <a:t> отлично справился благодаря механизму внимания и способности анализировать контекстные изменения.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12627540" y="1300498"/>
            <a:ext cx="336796" cy="318320"/>
            <a:chOff x="413779" y="3584518"/>
            <a:chExt cx="336796" cy="318320"/>
          </a:xfrm>
        </p:grpSpPr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5A6A957B-BB32-3240-89BD-33052ADA9ABF}"/>
                </a:ext>
              </a:extLst>
            </p:cNvPr>
            <p:cNvSpPr/>
            <p:nvPr/>
          </p:nvSpPr>
          <p:spPr>
            <a:xfrm>
              <a:off x="413779" y="3584518"/>
              <a:ext cx="336796" cy="312020"/>
            </a:xfrm>
            <a:prstGeom prst="ellipse">
              <a:avLst/>
            </a:prstGeom>
            <a:solidFill>
              <a:srgbClr val="0E2D69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HSE Sans" panose="02000000000000000000"/>
              </a:endParaRPr>
            </a:p>
          </p:txBody>
        </p:sp>
        <p:pic>
          <p:nvPicPr>
            <p:cNvPr id="1028" name="Picture 4" descr="Picture background"/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17" y="3584518"/>
              <a:ext cx="318320" cy="3183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7" name="Прямая соединительная линия 16"/>
          <p:cNvCxnSpPr/>
          <p:nvPr/>
        </p:nvCxnSpPr>
        <p:spPr>
          <a:xfrm flipV="1">
            <a:off x="743270" y="2741526"/>
            <a:ext cx="0" cy="1734277"/>
          </a:xfrm>
          <a:prstGeom prst="line">
            <a:avLst/>
          </a:prstGeom>
          <a:ln w="12700">
            <a:solidFill>
              <a:srgbClr val="0E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 txBox="1">
            <a:spLocks/>
          </p:cNvSpPr>
          <p:nvPr/>
        </p:nvSpPr>
        <p:spPr>
          <a:xfrm>
            <a:off x="9001323" y="6687841"/>
            <a:ext cx="3272376" cy="211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ДПО Компьютерная лингвистика ВШЭ 2026 Смирнова Марина</a:t>
            </a:r>
          </a:p>
        </p:txBody>
      </p:sp>
    </p:spTree>
    <p:extLst>
      <p:ext uri="{BB962C8B-B14F-4D97-AF65-F5344CB8AC3E}">
        <p14:creationId xmlns:p14="http://schemas.microsoft.com/office/powerpoint/2010/main" val="27669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schemas.openxmlformats.org/package/2006/metadata/core-properties"/>
    <ds:schemaRef ds:uri="9875bd71-cde8-496c-a136-433f55d5e6d0"/>
    <ds:schemaRef ds:uri="e96afe77-3acb-4328-97fc-408e1bde3ecd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</TotalTime>
  <Words>299</Words>
  <Application>Microsoft Office PowerPoint</Application>
  <PresentationFormat>Широкоэкранный</PresentationFormat>
  <Paragraphs>70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HSE Sans</vt:lpstr>
      <vt:lpstr>Тема Office</vt:lpstr>
      <vt:lpstr>Применение машинного обучения для классификации аугментированных текстов по уровням CEFR(A1-C1)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Marina Bykova</cp:lastModifiedBy>
  <cp:revision>31</cp:revision>
  <cp:lastPrinted>2021-11-11T13:08:42Z</cp:lastPrinted>
  <dcterms:created xsi:type="dcterms:W3CDTF">2021-11-11T08:52:47Z</dcterms:created>
  <dcterms:modified xsi:type="dcterms:W3CDTF">2026-02-21T09:47:39Z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